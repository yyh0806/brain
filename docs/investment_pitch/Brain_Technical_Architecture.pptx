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Brain 技术架构 - 详细实现方案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11887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3300"/>
                </a:solidFill>
              </a:defRPr>
            </a:pPr>
            <a:r>
              <a:t>感知层 (Perception Layer)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371600" cy="640080"/>
          </a:xfrm>
          <a:prstGeom prst="round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SensorInput</a:t>
            </a:r>
          </a:p>
          <a:p>
            <a:r>
              <a:t>传感器输入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71600"/>
            <a:ext cx="1371600" cy="640080"/>
          </a:xfrm>
          <a:prstGeom prst="round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PointCloudProcessor</a:t>
            </a:r>
          </a:p>
          <a:p>
            <a:r>
              <a:t>点云处理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1371600" cy="640080"/>
          </a:xfrm>
          <a:prstGeom prst="round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ObjectDetector</a:t>
            </a:r>
          </a:p>
          <a:p>
            <a:r>
              <a:t>目标检测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371600"/>
            <a:ext cx="1371600" cy="640080"/>
          </a:xfrm>
          <a:prstGeom prst="round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FusionEngine</a:t>
            </a:r>
          </a:p>
          <a:p>
            <a:r>
              <a:t>融合引擎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1371600" cy="640080"/>
          </a:xfrm>
          <a:prstGeom prst="round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SituationalMap</a:t>
            </a:r>
          </a:p>
          <a:p>
            <a:r>
              <a:t>态势图生成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8229600" cy="1188720"/>
          </a:xfrm>
          <a:prstGeom prst="roundRect">
            <a:avLst/>
          </a:prstGeom>
          <a:solidFill>
            <a:srgbClr val="B2EBF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认知层 (Cognitive Layer)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1280160" cy="640080"/>
          </a:xfrm>
          <a:prstGeom prst="roundRect">
            <a:avLst/>
          </a:prstGeom>
          <a:solidFill>
            <a:srgbClr val="4DD0E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PerceptionParser</a:t>
            </a:r>
          </a:p>
          <a:p>
            <a:r>
              <a:t>感知解析器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2743200"/>
            <a:ext cx="1280160" cy="640080"/>
          </a:xfrm>
          <a:prstGeom prst="roundRect">
            <a:avLst/>
          </a:prstGeom>
          <a:solidFill>
            <a:srgbClr val="4DD0E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WorldModel</a:t>
            </a:r>
          </a:p>
          <a:p>
            <a:r>
              <a:t>世界模型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743200"/>
            <a:ext cx="1280160" cy="640080"/>
          </a:xfrm>
          <a:prstGeom prst="roundRect">
            <a:avLst/>
          </a:prstGeom>
          <a:solidFill>
            <a:srgbClr val="4DD0E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SemanticUnderstanding</a:t>
            </a:r>
          </a:p>
          <a:p>
            <a:r>
              <a:t>语义理解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743200"/>
            <a:ext cx="1280160" cy="640080"/>
          </a:xfrm>
          <a:prstGeom prst="roundRect">
            <a:avLst/>
          </a:prstGeom>
          <a:solidFill>
            <a:srgbClr val="4DD0E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ContextManager</a:t>
            </a:r>
          </a:p>
          <a:p>
            <a:r>
              <a:t>上下文管理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743200"/>
            <a:ext cx="1280160" cy="640080"/>
          </a:xfrm>
          <a:prstGeom prst="roundRect">
            <a:avLst/>
          </a:prstGeom>
          <a:solidFill>
            <a:srgbClr val="4DD0E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CoTEngine</a:t>
            </a:r>
          </a:p>
          <a:p>
            <a:r>
              <a:t>思维链引擎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657600"/>
            <a:ext cx="5486400" cy="640080"/>
          </a:xfrm>
          <a:prstGeom prst="roundRect">
            <a:avLst/>
          </a:prstGeom>
          <a:solidFill>
            <a:srgbClr val="FFDAB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World Model (世界模型) - 共享知识库</a:t>
            </a:r>
          </a:p>
          <a:p>
            <a:r>
              <a:t>几何态势 | 语义态势 | 动态态势 | 时空索引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8229600" cy="1188720"/>
          </a:xfrm>
          <a:prstGeom prst="roundRect">
            <a:avLst/>
          </a:prstGeom>
          <a:solidFill>
            <a:srgbClr val="B2FF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00"/>
                </a:solidFill>
              </a:defRPr>
            </a:pPr>
            <a:r>
              <a:t>规划层 (Planning Layer)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371600" cy="640080"/>
          </a:xfrm>
          <a:prstGeom prst="roundRect">
            <a:avLst/>
          </a:prstGeom>
          <a:solidFill>
            <a:srgbClr val="4DD09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TaskLevelPlanner</a:t>
            </a:r>
          </a:p>
          <a:p>
            <a:r>
              <a:t>任务层规划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5029200"/>
            <a:ext cx="1371600" cy="640080"/>
          </a:xfrm>
          <a:prstGeom prst="roundRect">
            <a:avLst/>
          </a:prstGeom>
          <a:solidFill>
            <a:srgbClr val="4DD09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SkillLevelPlanner</a:t>
            </a:r>
          </a:p>
          <a:p>
            <a:r>
              <a:t>技能层规划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5029200"/>
            <a:ext cx="1371600" cy="640080"/>
          </a:xfrm>
          <a:prstGeom prst="roundRect">
            <a:avLst/>
          </a:prstGeom>
          <a:solidFill>
            <a:srgbClr val="4DD09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ActionLevelPlanner</a:t>
            </a:r>
          </a:p>
          <a:p>
            <a:r>
              <a:t>动作层规划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029200"/>
            <a:ext cx="1371600" cy="640080"/>
          </a:xfrm>
          <a:prstGeom prst="roundRect">
            <a:avLst/>
          </a:prstGeom>
          <a:solidFill>
            <a:srgbClr val="4DD09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DynamicPlanner</a:t>
            </a:r>
          </a:p>
          <a:p>
            <a:r>
              <a:t>动态规划器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5029200"/>
            <a:ext cx="1371600" cy="640080"/>
          </a:xfrm>
          <a:prstGeom prst="roundRect">
            <a:avLst/>
          </a:prstGeom>
          <a:solidFill>
            <a:srgbClr val="4DD09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ReplanningRules</a:t>
            </a:r>
          </a:p>
          <a:p>
            <a:r>
              <a:t>重规划规则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43600"/>
            <a:ext cx="8229600" cy="1188720"/>
          </a:xfrm>
          <a:prstGeom prst="roundRect">
            <a:avLst/>
          </a:prstGeom>
          <a:solidFill>
            <a:srgbClr val="E6E6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0066"/>
                </a:solidFill>
              </a:defRPr>
            </a:pPr>
            <a:r>
              <a:t>执行层 (Execution Layer)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400800"/>
            <a:ext cx="1280160" cy="640080"/>
          </a:xfrm>
          <a:prstGeom prst="roundRect">
            <a:avLst/>
          </a:prstGeom>
          <a:solidFill>
            <a:srgbClr val="95A5D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Executor</a:t>
            </a:r>
          </a:p>
          <a:p>
            <a:r>
              <a:t>执行器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6400800"/>
            <a:ext cx="1280160" cy="640080"/>
          </a:xfrm>
          <a:prstGeom prst="roundRect">
            <a:avLst/>
          </a:prstGeom>
          <a:solidFill>
            <a:srgbClr val="95A5D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AdaptiveExecutor</a:t>
            </a:r>
          </a:p>
          <a:p>
            <a:r>
              <a:t>自适应执行器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6400800"/>
            <a:ext cx="1280160" cy="640080"/>
          </a:xfrm>
          <a:prstGeom prst="roundRect">
            <a:avLst/>
          </a:prstGeom>
          <a:solidFill>
            <a:srgbClr val="95A5D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ExecutionMonitor</a:t>
            </a:r>
          </a:p>
          <a:p>
            <a:r>
              <a:t>执行监控器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6400800"/>
            <a:ext cx="1280160" cy="640080"/>
          </a:xfrm>
          <a:prstGeom prst="roundRect">
            <a:avLst/>
          </a:prstGeom>
          <a:solidFill>
            <a:srgbClr val="95A5D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FailureDetector</a:t>
            </a:r>
          </a:p>
          <a:p>
            <a:r>
              <a:t>失败检测器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6400800"/>
            <a:ext cx="1280160" cy="640080"/>
          </a:xfrm>
          <a:prstGeom prst="roundRect">
            <a:avLst/>
          </a:prstGeom>
          <a:solidFill>
            <a:srgbClr val="95A5D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StateTracker</a:t>
            </a:r>
          </a:p>
          <a:p>
            <a:r>
              <a:t>状态跟踪器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7315200"/>
            <a:ext cx="2286000" cy="548640"/>
          </a:xfrm>
          <a:prstGeom prst="roundRect">
            <a:avLst/>
          </a:prstGeom>
          <a:solidFill>
            <a:srgbClr val="FFB7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无人机 Drone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7315200"/>
            <a:ext cx="2286000" cy="548640"/>
          </a:xfrm>
          <a:prstGeom prst="roundRect">
            <a:avLst/>
          </a:prstGeom>
          <a:solidFill>
            <a:srgbClr val="FFB7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无人车 UGV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7315200"/>
            <a:ext cx="2286000" cy="548640"/>
          </a:xfrm>
          <a:prstGeom prst="roundRect">
            <a:avLst/>
          </a:prstGeom>
          <a:solidFill>
            <a:srgbClr val="FFB7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无人船 USV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数据流与核心算法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645920" cy="6400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传感器数据</a:t>
            </a:r>
          </a:p>
          <a:p>
            <a:r>
              <a:t>LiDAR/相机/IMU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6400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数据预处理</a:t>
            </a:r>
          </a:p>
          <a:p>
            <a:r>
              <a:t>滤波/配准/增强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645920" cy="640080"/>
          </a:xfrm>
          <a:prstGeom prst="roundRect">
            <a:avLst/>
          </a:prstGeom>
          <a:solid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特征提取</a:t>
            </a:r>
          </a:p>
          <a:p>
            <a:r>
              <a:t>点云/视觉/IMU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645920" cy="640080"/>
          </a:xfrm>
          <a:prstGeom prst="roundRect">
            <a:avLst/>
          </a:prstGeom>
          <a:solid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多模态融合</a:t>
            </a:r>
          </a:p>
          <a:p>
            <a:r>
              <a:t>几何+语义+时序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645920" cy="640080"/>
          </a:xfrm>
          <a:prstGeom prst="roundRect">
            <a:avLst/>
          </a:prstGeom>
          <a:solidFill>
            <a:srgbClr val="B2EB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World Model</a:t>
            </a:r>
          </a:p>
          <a:p>
            <a:r>
              <a:t>世界模型更新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572000"/>
            <a:ext cx="1645920" cy="640080"/>
          </a:xfrm>
          <a:prstGeom prst="roundRect">
            <a:avLst/>
          </a:prstGeom>
          <a:solidFill>
            <a:srgbClr val="B2EB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CoT推理</a:t>
            </a:r>
          </a:p>
          <a:p>
            <a:r>
              <a:t>思维链生成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572000"/>
            <a:ext cx="1645920" cy="640080"/>
          </a:xfrm>
          <a:prstGeom prst="roundRect">
            <a:avLst/>
          </a:prstGeom>
          <a:solidFill>
            <a:srgbClr val="B2FFB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HTN任务分解</a:t>
            </a:r>
          </a:p>
          <a:p>
            <a:r>
              <a:t>任务→技能→动作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200400"/>
            <a:ext cx="1645920" cy="640080"/>
          </a:xfrm>
          <a:prstGeom prst="roundRect">
            <a:avLst/>
          </a:prstGeom>
          <a:solidFill>
            <a:srgbClr val="B2FFB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动态规划</a:t>
            </a:r>
          </a:p>
          <a:p>
            <a:r>
              <a:t>插入前置条件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1645920" cy="640080"/>
          </a:xfrm>
          <a:prstGeom prst="roundRect">
            <a:avLst/>
          </a:prstGeom>
          <a:solidFill>
            <a:srgbClr val="E6E6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执行计划</a:t>
            </a:r>
          </a:p>
          <a:p>
            <a:r>
              <a:t>生成动作序列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1645920" cy="640080"/>
          </a:xfrm>
          <a:prstGeom prst="roundRect">
            <a:avLst/>
          </a:prstGeom>
          <a:solidFill>
            <a:srgbClr val="E6E6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执行监控</a:t>
            </a:r>
          </a:p>
          <a:p>
            <a:r>
              <a:t>实时状态跟踪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1645920" cy="640080"/>
          </a:xfrm>
          <a:prstGeom prst="roundRect">
            <a:avLst/>
          </a:prstGeom>
          <a:solidFill>
            <a:srgbClr val="E6E6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失败检测</a:t>
            </a:r>
          </a:p>
          <a:p>
            <a:r>
              <a:t>异常识别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572000"/>
            <a:ext cx="1645920" cy="640080"/>
          </a:xfrm>
          <a:prstGeom prst="roundRect">
            <a:avLst/>
          </a:prstGeom>
          <a:solidFill>
            <a:srgbClr val="B2FFB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/>
            </a:pPr>
            <a:r>
              <a:t>自适应恢复</a:t>
            </a:r>
          </a:p>
          <a:p>
            <a:r>
              <a:t>重规划/重试/回滚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100" b="1">
                <a:solidFill>
                  <a:srgbClr val="660066"/>
                </a:solidFill>
              </a:defRPr>
            </a:pPr>
            <a:r>
              <a:t>数据流：</a:t>
            </a:r>
          </a:p>
          <a:p>
            <a:r>
              <a:t>传感器输入 → 预处理 → 融合 → World Model → CoT推理 → HTN规划 → 动态规划 → 执行</a:t>
            </a:r>
          </a:p>
          <a:p>
            <a:r>
              <a:t>↑                                                                 ↓</a:t>
            </a:r>
          </a:p>
          <a:p>
            <a:r>
              <a:t>← ← ← ← ← ← ← ← ← ← ← ← ← 失败检测 → 自适应恢复 ← ← ← ← ← ← ← ← ← ← ← ← 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核心模块详解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103120" cy="457200"/>
          </a:xfrm>
          <a:prstGeom prst="roundRect">
            <a:avLst/>
          </a:prstGeom>
          <a:solidFill>
            <a:srgbClr val="FFCC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感知层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920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SensorInput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接收多传感器数据流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时间戳同步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PointCloudProcessor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点云滤波与分割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地面平面提取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ObjectDetector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YOLO目标检测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- 3D位置估计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914400"/>
            <a:ext cx="2103120" cy="457200"/>
          </a:xfrm>
          <a:prstGeom prst="roundRect">
            <a:avLst/>
          </a:prstGeom>
          <a:solidFill>
            <a:srgbClr val="4DD0E1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认知层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463040"/>
            <a:ext cx="1920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WorldModel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几何世界建模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语义关系抽取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SemanticUnderstanding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VLM视觉理解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场景语义标注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CoTEngine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链式推理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决策可解释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914400"/>
            <a:ext cx="2103120" cy="457200"/>
          </a:xfrm>
          <a:prstGeom prst="roundRect">
            <a:avLst/>
          </a:prstGeom>
          <a:solidFill>
            <a:srgbClr val="4DD091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规划层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1920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TaskLevelPlanner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自然语言解析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任务树生成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SkillLevelPlanner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技能序列分解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约束求解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ActionLevelPlanner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参数化动作生成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前置条件检查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914400"/>
            <a:ext cx="2103120" cy="457200"/>
          </a:xfrm>
          <a:prstGeom prst="roundRect">
            <a:avLst/>
          </a:prstGeom>
          <a:solidFill>
            <a:srgbClr val="95A5D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执行层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463040"/>
            <a:ext cx="1920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AdaptiveExecutor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执行状态监控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实时调整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FailureDetector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异常识别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失败分类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ReplanningRules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重规划决策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000000"/>
                </a:solidFill>
              </a:defRPr>
            </a:pPr>
            <a:r>
              <a:t>  - 恢复策略选择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技术亮点与创新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365760"/>
          </a:xfrm>
          <a:prstGeom prst="roundRect">
            <a:avLst/>
          </a:prstGeom>
          <a:solidFill>
            <a:srgbClr val="0066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1. World Model 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多模态传感器融合（LiDAR + 视觉 + IMU）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实时构建几何、语义、动态三维态势图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时空索引，毫秒级查询响应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8229600" cy="365760"/>
          </a:xfrm>
          <a:prstGeom prst="roundRect">
            <a:avLst/>
          </a:prstGeom>
          <a:solidFill>
            <a:srgbClr val="0066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2. Chain-of-Thought 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认知层显式推理链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决策过程可解释、可追溯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支持复杂任务分解与策略选择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8229600" cy="365760"/>
          </a:xfrm>
          <a:prstGeom prst="roundRect">
            <a:avLst/>
          </a:prstGeom>
          <a:solidFill>
            <a:srgbClr val="0066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3. HTN 分层规划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三层规划器：任务层 → 技能层 → 动作层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动态插入前置条件（如开门、搜索）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失败自动恢复（重试/插入/重规划）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8229600" cy="365760"/>
          </a:xfrm>
          <a:prstGeom prst="roundRect">
            <a:avLst/>
          </a:prstGeom>
          <a:solidFill>
            <a:srgbClr val="0066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4. 自适应执行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实时监控执行状态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异常自动检测与分类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多级恢复策略（回滚/重规划/求助）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8229600" cy="365760"/>
          </a:xfrm>
          <a:prstGeom prst="roundRect">
            <a:avLst/>
          </a:prstGeom>
          <a:solidFill>
            <a:srgbClr val="0066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5. 平台抽象层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统一Capability接口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一次开发，三平台复用（无人机/车/船）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代码复用率90%+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