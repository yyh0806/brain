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案例：搜救灾区被困人员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完整任务：用户指令 "搜索灾区，发现被困人员后立即报告"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11887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/>
            </a:pPr>
            <a:r>
              <a:t>感知层: 看到什么？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输入: 传感器数据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相机RGB图像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激光雷达点云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IMU姿态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GPS位置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CC0000"/>
                </a:solidFill>
              </a:defRPr>
            </a:pPr>
            <a:r>
              <a:t>VLM场景理解: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「这是一片倒塌的建筑区域，有废墟、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 碎石、开放空间，部分建筑结构完整」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目标检测: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检测到3个可能的目标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热成像发现1个热源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输出: PerceptionData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{场景描述, 物体列表, 空间关系}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280160"/>
            <a:ext cx="2011680" cy="1188720"/>
          </a:xfrm>
          <a:prstGeom prst="roundRect">
            <a:avLst/>
          </a:prstGeom>
          <a:solidFill>
            <a:srgbClr val="B2EBF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/>
            </a:pPr>
            <a:r>
              <a:t>认知层: 理解什么？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91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输入: PerceptionData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WorldModel构建: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几何世界: 建筑物3D模型、废墟分布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语义世界: 「倒塌建筑」「可能的避难所」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动态世界: 跟踪3个潜在目标的位置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CC0000"/>
                </a:solidFill>
              </a:defRPr>
            </a:pPr>
            <a:r>
              <a:t>CoT推理: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步骤1: 灾区环境复杂，优先搜索开放空间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步骤2: 热源可能是被困人员，优先级最高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步骤3: 规划搜索路径：中心→外围→返航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输出: PlanningContext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{机器人状态, 世界物体, 空间关系, 推理链}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80160"/>
            <a:ext cx="2011680" cy="1188720"/>
          </a:xfrm>
          <a:prstGeom prst="roundRect">
            <a:avLst/>
          </a:prstGeom>
          <a:solidFill>
            <a:srgbClr val="B2FF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/>
            </a:pPr>
            <a:r>
              <a:t>规划层: 怎么做？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输入: PlanningContext + "搜索灾区，发现被困人员"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任务层规划: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自然语言 → 任务树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[搜索灾区] → [搜索开放区域] → [检测热源] → [确认人员]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技能层规划: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[搜索开放区域] → skills: [起飞, 巡航, 搜索]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[检测热源] → skills: [热成像, 识别, 定位]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动作层规划: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[起飞] → action: takeoff(params={height: 50m})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[巡航] → action: goto(params={path: [...]})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[搜索] → action: scan(params={mode: thermal})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输出: PlanState (HTN任务树)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280160"/>
            <a:ext cx="2011680" cy="1188720"/>
          </a:xfrm>
          <a:prstGeom prst="roundRect">
            <a:avLst/>
          </a:prstGeom>
          <a:solidFill>
            <a:srgbClr val="E6E6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/>
            </a:pPr>
            <a:r>
              <a:t>执行层: 如何执行？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91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输入: PlanState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执行过程: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1. takeoff(50m) → 执行中 → 成功 → 标记SUCCESS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2. goto(search_point) → 执行中 → 成功 → 标记SUCCESS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3. scan(thermal) → 执行中 → 发现热源 → 标记SUCCESS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4. detect(person) → 执行中 → 确认 → 标记SUCCESS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异常处理: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遇到强风 → goto失败 → 重试1次 → 调整高度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• 热源消失 → scan失败 → 插入search → 重新扫描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</a:p>
          <a:p>
            <a:pPr>
              <a:spcBef>
                <a:spcPts val="100"/>
              </a:spcBef>
              <a:spcAft>
                <a:spcPts val="100"/>
              </a:spcAft>
              <a:defRPr b="1">
                <a:solidFill>
                  <a:srgbClr val="000066"/>
                </a:solidFill>
              </a:defRPr>
            </a:pPr>
            <a:r>
              <a:t>输出: ExecutionResult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/>
            </a:pPr>
            <a:r>
              <a:t>  {success: true, location: (x,y,z), action: "报告"}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68880" y="1783080"/>
            <a:ext cx="137160" cy="18288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572000" y="1783080"/>
            <a:ext cx="137160" cy="18288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675120" y="1783080"/>
            <a:ext cx="137160" cy="18288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0066"/>
                </a:solidFill>
              </a:defRPr>
            </a:pPr>
            <a:r>
              <a:t>数据流: 传感器 → VLM理解 → WorldModel → CoT推理 → HTN规划 → 自适应执行 → 平台控制</a:t>
            </a:r>
          </a:p>
          <a:p>
            <a:r>
              <a:t>关键: 每层只做自己的事，上层不干预下层的具体实现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第一层：World Model 智能理解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任务：将感知数据转化为可理解的世界模型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CC0000"/>
                </a:solidFill>
              </a:defRPr>
            </a:pPr>
            <a:r>
              <a:t>📥 输入：PerceptionData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原始数据: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3300"/>
                </a:solidFill>
              </a:defRPr>
            </a:pPr>
            <a:r>
              <a:t>  point_cloud: 点云数据 (100万+点)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3300"/>
                </a:solidFill>
              </a:defRPr>
            </a:pPr>
            <a:r>
              <a:t>  detections: YOLO检测结果 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{label: "person", bbox: [...], confidence: 0.85},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{label: "rubble", bbox: [...], confidence: 0.92},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{label: "building", bbox: [...], confidence: 0.78}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3300"/>
                </a:solidFill>
              </a:defRPr>
            </a:pPr>
            <a:r>
              <a:t>  semantic_objects: VLM理解结果 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{label: "倒塌建筑", description: "部分结构受损",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 bbox: [...], confidence: 0.7},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{label: "开放空间", description: "可能的避难所",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 position: "中央区域", confidence: 0.8}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]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006600"/>
                </a:solidFill>
              </a:defRPr>
            </a:pPr>
            <a:r>
              <a:t>📤 输出：PlanningContext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3657600" cy="137160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⚙️ WorldModel 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t>1. 更新几何世界：点云 → 3D建筑模型</a:t>
            </a:r>
          </a:p>
          <a:p>
            <a:r>
              <a:t>2. 更新语义世界：「倒塌建筑」「废墟」</a:t>
            </a:r>
          </a:p>
          <a:p>
            <a:r>
              <a:t>3. 更新动态世界：跟踪3个潜在目标</a:t>
            </a:r>
          </a:p>
          <a:p>
            <a:r>
              <a:t>4. 建立空间关系：「废墟在建筑左侧」</a:t>
            </a:r>
          </a:p>
          <a:p>
            <a:r>
              <a:t>5. 生成PlanningContext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机器人状态: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robot_state: {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  position: {x: 100, y: 200, z: 50},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  battery: 85%,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  capabilities: ["fly", "thermal_camera"]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世界物体: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world_objects: 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{id: "building_1", label: "倒塌建筑",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   position: {x: 150, y: 250}, status: "damaged"},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{id: "target_1", label: "热源",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   position: {x: 120, y: 220}, confidence: 0.9}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空间关系: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spatial_relations: 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"热源在倒塌建筑内部",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"废墟阻挡了直接路径"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追踪对象: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tracked_objects: [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  {id: "target_1", position: {...}, velocity: {...},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000066"/>
                </a:solidFill>
              </a:defRPr>
            </a:pPr>
            <a:r>
              <a:t>     history: [...], last_seen: "2秒前"}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754880" y="1280160"/>
            <a:ext cx="3749039" cy="10972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🎯 核心能力1: 几何世界建模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463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输入: 点云数据 (100万+点)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处理: 地面分割 → 障碍物提取 → 3D重建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输出: 3D建筑模型、可通行区域地图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价值: 规划层知道「哪里能飞」「哪里有障碍」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423160"/>
            <a:ext cx="3749039" cy="10972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🧠 核心能力2: 语义世界理解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06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输入: VLM场景描述 + YOLO检测结果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处理: 语义标注 → 关系抽取 → 场景分类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输出: 「倒塌建筑」「可能的避难所」「废墟」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价值: 规划层知道「这是什么」「有什么意义」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566160"/>
            <a:ext cx="3749039" cy="10972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📍 核心能力3: 动态世界跟踪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49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输入: 连续帧的检测结果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处理: 目标关联 → 位置预测 → 状态更新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输出: 每个目标的历史轨迹、速度、方向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价值: 规划层知道「目标在哪」「往哪移动」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709160"/>
            <a:ext cx="3749039" cy="10972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🔗 核心能力4: 空间关系推理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8920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输入: 物体位置 + 几何模型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处理: 拓扑关系 → 遮挡关系 → 可达性分析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输出: 「A在B内部」「C被D阻挡」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价值: 规划层知道「能做什么」「不能做什么」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第二层：HTN分层规划 + 动态推理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任务：将用户指令转化为可执行的HTN任务树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05840"/>
          </a:xfrm>
          <a:prstGeom prst="roundRect">
            <a:avLst/>
          </a:prstGeom>
          <a:solidFill>
            <a:srgbClr val="B3E5FC"/>
          </a:solidFill>
          <a:ln w="25400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任务层规划 (TaskLevelPlanner): 自然语言 → 任务树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输入: "搜索灾区，发现被困人员后立即报告"</a:t>
            </a:r>
          </a:p>
          <a:p>
            <a:r>
              <a:t>输出: TaskNode {</a:t>
            </a:r>
          </a:p>
          <a:p>
            <a:r>
              <a:t>  id: "search_rescue",</a:t>
            </a:r>
          </a:p>
          <a:p>
            <a:r>
              <a:t>  name: "搜索救援",</a:t>
            </a:r>
          </a:p>
          <a:p>
            <a:r>
              <a:t>  type: "compound",</a:t>
            </a:r>
          </a:p>
          <a:p>
            <a:r>
              <a:t>  children: [</a:t>
            </a:r>
          </a:p>
          <a:p>
            <a:r>
              <a:t>    TaskNode("搜索灾区", "search_area"),</a:t>
            </a:r>
          </a:p>
          <a:p>
            <a:r>
              <a:t>    TaskNode("检测人员", "detect_person"),</a:t>
            </a:r>
          </a:p>
          <a:p>
            <a:r>
              <a:t>    TaskNode("报告位置", "report_location")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关键: 将模糊的自然语言拆解为明确的子任务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8229600" cy="1188720"/>
          </a:xfrm>
          <a:prstGeom prst="roundRect">
            <a:avLst/>
          </a:prstGeom>
          <a:solidFill>
            <a:srgbClr val="A7E6DB"/>
          </a:solidFill>
          <a:ln w="25400">
            <a:solidFill>
              <a:srgbClr val="00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技能层规划 (SkillLevelPlanner): 任务 → 技能序列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输入: TaskNode("搜索灾区")</a:t>
            </a:r>
          </a:p>
          <a:p>
            <a:r>
              <a:t>输出: SkillNode {</a:t>
            </a:r>
          </a:p>
          <a:p>
            <a:r>
              <a:t>  id: "search_area_1",</a:t>
            </a:r>
          </a:p>
          <a:p>
            <a:r>
              <a:t>  name: "区域搜索",</a:t>
            </a:r>
          </a:p>
          <a:p>
            <a:r>
              <a:t>  skill: "aerial_search",</a:t>
            </a:r>
          </a:p>
          <a:p>
            <a:r>
              <a:t>  children: [</a:t>
            </a:r>
          </a:p>
          <a:p>
            <a:r>
              <a:t>    SkillNode("起飞", "takeoff", skill="flight_control"),</a:t>
            </a:r>
          </a:p>
          <a:p>
            <a:r>
              <a:t>    SkillNode("巡航", "cruise", skill="flight_control"),</a:t>
            </a:r>
          </a:p>
          <a:p>
            <a:r>
              <a:t>    SkillNode("搜索", "search", skill="visual_search"),</a:t>
            </a:r>
          </a:p>
          <a:p>
            <a:r>
              <a:t>    SkillNode("检测", "detect", skill="thermal_detection")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关键: 选择可用的技能（Capability），检查平台支持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A5D6A7"/>
          </a:solidFill>
          <a:ln w="25400">
            <a:solidFill>
              <a:srgbClr val="00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动作层规划 (ActionLevelPlanner): 技能 → 参数化动作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输入: SkillNode("起飞")</a:t>
            </a:r>
          </a:p>
          <a:p>
            <a:r>
              <a:t>输出: ActionNode {</a:t>
            </a:r>
          </a:p>
          <a:p>
            <a:r>
              <a:t>  id: "takeoff_1",</a:t>
            </a:r>
          </a:p>
          <a:p>
            <a:r>
              <a:t>  action: "takeoff",</a:t>
            </a:r>
          </a:p>
          <a:p>
            <a:r>
              <a:t>  parameters: {height: 50, speed: 5, mode: "vertical"},</a:t>
            </a:r>
          </a:p>
          <a:p>
            <a:r>
              <a:t>  preconditions: ["battery &gt; 20%", "gps_ready"],</a:t>
            </a:r>
          </a:p>
          <a:p>
            <a:r>
              <a:t>  expected_effects: ["altitude == 50m"]</a:t>
            </a:r>
          </a:p>
          <a:p>
            <a:r>
              <a:t>}</a:t>
            </a:r>
          </a:p>
          <a:p>
            <a:r>
              <a:t>关键: 生成具体参数，检查前置条件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94960"/>
            <a:ext cx="8229600" cy="822960"/>
          </a:xfrm>
          <a:prstGeom prst="roundRect">
            <a:avLst/>
          </a:prstGeom>
          <a:solidFill>
            <a:srgbClr val="FFEBCD"/>
          </a:solidFill>
          <a:ln w="25400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t>动态规划 (DynamicPlanner): 运行时插入必要操作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场景1: 起飞前检测电池不足 → 动态插入 charge_action</a:t>
            </a:r>
          </a:p>
          <a:p>
            <a:r>
              <a:t>场景2: 检测到门/障碍 → 动态插入 open_door / remove_obstacle</a:t>
            </a:r>
          </a:p>
          <a:p>
            <a:r>
              <a:t>场景3: 热源消失 → 动态调整搜索路径 → 重新规划</a:t>
            </a:r>
          </a:p>
          <a:p>
            <a:r>
              <a:t>关键: 根据环境变化实时调整计划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第三层：自适应执行引擎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任务：执行HTN任务树，处理异常，自动恢复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6600"/>
                </a:solidFill>
              </a:defRPr>
            </a:pPr>
            <a:r>
              <a:t>📋 执行流程（5个节点示例）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206240" cy="64008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/>
            </a:pPr>
            <a:r>
              <a:t>✅ 节点1: takeoff(50m)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状态: PENDING → EXECUTING → 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操作: 无人机垂直起飞到50米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耗时: 8秒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结果: 成功到达目标高度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4206240" cy="64008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/>
            </a:pPr>
            <a:r>
              <a:t>✅ 节点2: goto(search_point)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状态: PENDING → EXECUTING → 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操作: 沿规划路径飞行到搜索点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耗时: 15秒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结果: 成功到达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4206240" cy="640080"/>
          </a:xfrm>
          <a:prstGeom prst="roundRect">
            <a:avLst/>
          </a:prstGeom>
          <a:solidFill>
            <a:srgbClr val="FFDC9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/>
            </a:pPr>
            <a:r>
              <a:t>⚠️  节点3: scan(thermal)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状态: PENDING → EXECUTING → FAILED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操作: 热成像扫描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错误: 未发现明显热源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恢复: DynamicPlanner.insert(search)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      → 重新扫描，扩大范围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4206240" cy="64008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/>
            </a:pPr>
            <a:r>
              <a:t>✅ 节点4: detect(person)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6294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状态: PENDING → EXECUTING → 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操作: 检测人员（热像+视觉）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耗时: 5秒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结果: 发现被困人员！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位置: (120, 220, 10), 置信度: 0.92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7315200"/>
            <a:ext cx="4206240" cy="640080"/>
          </a:xfrm>
          <a:prstGeom prst="roundRect">
            <a:avLst/>
          </a:prstGeom>
          <a:solidFill>
            <a:srgbClr val="C8FFC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/>
            </a:pPr>
            <a:r>
              <a:t>✅ 节点5: report(location)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80010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状态: PENDING → EXECUTING → 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操作: 返航并报告位置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耗时: 12秒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/>
            </a:pPr>
            <a:r>
              <a:t>结果: 任务完成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60066"/>
                </a:solidFill>
              </a:defRPr>
            </a:pPr>
            <a:r>
              <a:t>🔧 核心能力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828800"/>
            <a:ext cx="3017520" cy="914400"/>
          </a:xfrm>
          <a:prstGeom prst="roundRect">
            <a:avLst/>
          </a:prstGeom>
          <a:solidFill>
            <a:srgbClr val="F5F5DC"/>
          </a:solidFill>
          <a:ln w="12700">
            <a:solidFill>
              <a:srgbClr val="66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1. 实时监控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0116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监听每个节点的执行状态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检测异常（超时、失败、偏离）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更新WorldModel中的物体状态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17520"/>
            <a:ext cx="3017520" cy="914400"/>
          </a:xfrm>
          <a:prstGeom prst="roundRect">
            <a:avLst/>
          </a:prstGeom>
          <a:solidFill>
            <a:srgbClr val="F5F5DC"/>
          </a:solidFill>
          <a:ln w="12700">
            <a:solidFill>
              <a:srgbClr val="66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2. 失败检测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200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FailureType分类: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• PRECONDITION_FAILED  # 前置条件不满足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• EXECUTION_FAILED     # 执行失败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• WORLD_STATE_CHANGED  # 环境突变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• TIMEOUT              # 超时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206240"/>
            <a:ext cx="3017520" cy="914400"/>
          </a:xfrm>
          <a:prstGeom prst="roundRect">
            <a:avLst/>
          </a:prstGeom>
          <a:solidFill>
            <a:srgbClr val="F5F5DC"/>
          </a:solidFill>
          <a:ln w="12700">
            <a:solidFill>
              <a:srgbClr val="66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3. 自动恢复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策略1: 重试 (retry)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→ 适用于临时故障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策略2: 动态插入 (insert)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→ 检测到门关闭，插入open_door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→ 检测到物体丢失，插入search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策略3: 重规划 (replan)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→ 超过3次插入/重试失败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→ 环境发生重大变化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→ 目标不可达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5394960"/>
            <a:ext cx="3017520" cy="914400"/>
          </a:xfrm>
          <a:prstGeom prst="roundRect">
            <a:avLst/>
          </a:prstGeom>
          <a:solidFill>
            <a:srgbClr val="F5F5DC"/>
          </a:solidFill>
          <a:ln w="12700">
            <a:solidFill>
              <a:srgbClr val="66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4. 状态管理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5778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维护PlanNode的状态机: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PENDING → EXECUTING → SUCCESS/FAILED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记录执行历史: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timestamp, node_id, status, result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生成执行统计: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total, successful, failed, success_rate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