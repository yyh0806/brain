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Brain 系统完整技术架构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感知层 → 认知层 → 规划层 → 执行层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0066CC"/>
                </a:solidFill>
              </a:defRPr>
            </a:pPr>
            <a:r>
              <a:t>● World Model 驱动的智能理解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0066CC"/>
                </a:solidFill>
              </a:defRPr>
            </a:pPr>
            <a:r>
              <a:t>● HTN 分层规划 + 动态推理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0066CC"/>
                </a:solidFill>
              </a:defRPr>
            </a:pPr>
            <a:r>
              <a:t>● 自适应执行引擎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505050"/>
                </a:solidFill>
              </a:defRPr>
            </a:pPr>
            <a:r>
              <a:t>核心技术特点：</a:t>
            </a:r>
          </a:p>
          <a:p>
            <a:r>
              <a:t>• VLM 视觉语言模型（LLaVA/MiniCPM-V）实现场景理解与目标搜索</a:t>
            </a:r>
          </a:p>
          <a:p>
            <a:r>
              <a:t>• LLM 大语言模型（GPT-4/Claude）实现 Chain-of-Thought 推理</a:t>
            </a:r>
          </a:p>
          <a:p>
            <a:r>
              <a:t>• World Model 世界模型提供几何、语义、动态三维态势</a:t>
            </a:r>
          </a:p>
          <a:p>
            <a:r>
              <a:t>• HTN 分层规划支持任务层→技能层→动作层分解</a:t>
            </a:r>
          </a:p>
          <a:p>
            <a:r>
              <a:t>• 动态推理实现运行时插入前置条件和自动重规划</a:t>
            </a:r>
          </a:p>
          <a:p>
            <a:r>
              <a:t>• 自适应执行引擎实时监控并自动恢复失败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Brain 系统完整架构图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554480" cy="4572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LiDAR</a:t>
            </a:r>
          </a:p>
          <a:p>
            <a:r>
              <a:t>激光雷达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731520"/>
            <a:ext cx="1554480" cy="4572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摄像头</a:t>
            </a:r>
          </a:p>
          <a:p>
            <a:r>
              <a:t>RGB/深度/热成像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731520"/>
            <a:ext cx="1554480" cy="4572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IMU</a:t>
            </a:r>
          </a:p>
          <a:p>
            <a:r>
              <a:t>惯性测量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731520"/>
            <a:ext cx="1554480" cy="4572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GPS</a:t>
            </a:r>
          </a:p>
          <a:p>
            <a:r>
              <a:t>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1005840"/>
          </a:xfrm>
          <a:prstGeom prst="roundRect">
            <a:avLst/>
          </a:prstGeom>
          <a:solidFill>
            <a:srgbClr val="FFF9C4"/>
          </a:solidFill>
          <a:ln w="317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7800"/>
                </a:solidFill>
              </a:defRPr>
            </a:pPr>
            <a:r>
              <a:t>感知层 Perception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1280160" cy="640080"/>
          </a:xfrm>
          <a:prstGeom prst="roundRect">
            <a:avLst/>
          </a:prstGeom>
          <a:solidFill>
            <a:srgbClr val="FFF59D"/>
          </a:solidFill>
          <a:ln w="190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SensorInput</a:t>
            </a:r>
          </a:p>
          <a:p>
            <a:r>
              <a:t>传感器输入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691640"/>
            <a:ext cx="1280160" cy="640080"/>
          </a:xfrm>
          <a:prstGeom prst="roundRect">
            <a:avLst/>
          </a:prstGeom>
          <a:solidFill>
            <a:srgbClr val="FFF59D"/>
          </a:solidFill>
          <a:ln w="190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PointCloud</a:t>
            </a:r>
          </a:p>
          <a:p>
            <a:r>
              <a:t>点云处理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1280160" cy="640080"/>
          </a:xfrm>
          <a:prstGeom prst="roundRect">
            <a:avLst/>
          </a:prstGeom>
          <a:solidFill>
            <a:srgbClr val="FFF59D"/>
          </a:solidFill>
          <a:ln w="190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ObjectDetector</a:t>
            </a:r>
          </a:p>
          <a:p>
            <a:r>
              <a:t>YOLO检测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691640"/>
            <a:ext cx="1280160" cy="64008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VLM视觉模型</a:t>
            </a:r>
          </a:p>
          <a:p>
            <a:r>
              <a:t>LLaVA/MiniCPM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91640"/>
            <a:ext cx="1280160" cy="640080"/>
          </a:xfrm>
          <a:prstGeom prst="roundRect">
            <a:avLst/>
          </a:prstGeom>
          <a:solidFill>
            <a:srgbClr val="FFF59D"/>
          </a:solidFill>
          <a:ln w="190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FusionEngine</a:t>
            </a:r>
          </a:p>
          <a:p>
            <a:r>
              <a:t>融合引擎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91640"/>
            <a:ext cx="1280160" cy="640080"/>
          </a:xfrm>
          <a:prstGeom prst="roundRect">
            <a:avLst/>
          </a:prstGeom>
          <a:solidFill>
            <a:srgbClr val="FFF59D"/>
          </a:solidFill>
          <a:ln w="190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SituationalMap</a:t>
            </a:r>
          </a:p>
          <a:p>
            <a:r>
              <a:t>态势图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560320"/>
            <a:ext cx="8595360" cy="1005840"/>
          </a:xfrm>
          <a:prstGeom prst="roundRect">
            <a:avLst/>
          </a:prstGeom>
          <a:solidFill>
            <a:srgbClr val="B3E5FC"/>
          </a:solidFill>
          <a:ln w="317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096"/>
                </a:solidFill>
              </a:defRPr>
            </a:pPr>
            <a:r>
              <a:t>认知层 Cognitive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1188720" cy="64008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PerceptionParser</a:t>
            </a:r>
          </a:p>
          <a:p>
            <a:r>
              <a:t>感知解析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880360"/>
            <a:ext cx="1188720" cy="64008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World Model</a:t>
            </a:r>
          </a:p>
          <a:p>
            <a:r>
              <a:t>世界模型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880360"/>
            <a:ext cx="1188720" cy="64008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Semantic</a:t>
            </a:r>
          </a:p>
          <a:p>
            <a:r>
              <a:t>语义理解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880360"/>
            <a:ext cx="1188720" cy="64008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ContextManager</a:t>
            </a:r>
          </a:p>
          <a:p>
            <a:r>
              <a:t>上下文管理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80360"/>
            <a:ext cx="1188720" cy="64008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CoT Engine</a:t>
            </a:r>
          </a:p>
          <a:p>
            <a:r>
              <a:t>GPT-4推理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880360"/>
            <a:ext cx="1188720" cy="64008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Reasoning</a:t>
            </a:r>
          </a:p>
          <a:p>
            <a:r>
              <a:t>推理结果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749040"/>
            <a:ext cx="8595360" cy="100584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94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432"/>
                </a:solidFill>
              </a:defRPr>
            </a:pPr>
            <a:r>
              <a:t>规划层 Planning Layer (HTN分层规划)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TaskLevel</a:t>
            </a:r>
          </a:p>
          <a:p>
            <a:r>
              <a:t>任务层</a:t>
            </a:r>
          </a:p>
          <a:p>
            <a:r>
              <a:t>→技能序列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SkillLevel</a:t>
            </a:r>
          </a:p>
          <a:p>
            <a:r>
              <a:t>技能层</a:t>
            </a:r>
          </a:p>
          <a:p>
            <a:r>
              <a:t>→动作序列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ActionLevel</a:t>
            </a:r>
          </a:p>
          <a:p>
            <a:r>
              <a:t>动作层</a:t>
            </a:r>
          </a:p>
          <a:p>
            <a:r>
              <a:t>→参数化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DynamicPlanner</a:t>
            </a:r>
          </a:p>
          <a:p>
            <a:r>
              <a:t>动态插入</a:t>
            </a:r>
          </a:p>
          <a:p>
            <a:r>
              <a:t>前置条件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Replanning</a:t>
            </a:r>
          </a:p>
          <a:p>
            <a:r>
              <a:t>重规划</a:t>
            </a:r>
          </a:p>
          <a:p>
            <a:r>
              <a:t>失败恢复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069080"/>
            <a:ext cx="1280160" cy="64008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PlanState</a:t>
            </a:r>
          </a:p>
          <a:p>
            <a:r>
              <a:t>任务树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937760"/>
            <a:ext cx="8595360" cy="1005840"/>
          </a:xfrm>
          <a:prstGeom prst="roundRect">
            <a:avLst/>
          </a:prstGeom>
          <a:solidFill>
            <a:srgbClr val="E1BEE7"/>
          </a:solidFill>
          <a:ln w="317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83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0078"/>
                </a:solidFill>
              </a:defRPr>
            </a:pPr>
            <a:r>
              <a:t>执行层 Execution Layer (自适应执行)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Executor</a:t>
            </a:r>
          </a:p>
          <a:p>
            <a:r>
              <a:t>执行器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9164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AdaptiveExec</a:t>
            </a:r>
          </a:p>
          <a:p>
            <a:r>
              <a:t>自适应</a:t>
            </a:r>
          </a:p>
          <a:p>
            <a:r>
              <a:t>实时监控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Monitor</a:t>
            </a:r>
          </a:p>
          <a:p>
            <a:r>
              <a:t>执行监控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FailureDetector</a:t>
            </a:r>
          </a:p>
          <a:p>
            <a:r>
              <a:t>失败检测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Recovery</a:t>
            </a:r>
          </a:p>
          <a:p>
            <a:r>
              <a:t>恢复引擎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Retry/Insert/</a:t>
            </a:r>
          </a:p>
          <a:p>
            <a:r>
              <a:t>Replan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5257800"/>
            <a:ext cx="109728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Observation</a:t>
            </a:r>
          </a:p>
          <a:p>
            <a:r>
              <a:t>结果反馈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6126480"/>
            <a:ext cx="8595360" cy="640080"/>
          </a:xfrm>
          <a:prstGeom prst="roundRect">
            <a:avLst/>
          </a:prstGeom>
          <a:solidFill>
            <a:srgbClr val="FFCCBC"/>
          </a:solidFill>
          <a:ln w="317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172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3200"/>
                </a:solidFill>
              </a:defRPr>
            </a:pPr>
            <a:r>
              <a:t>平台层 Platform Layer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6263640"/>
            <a:ext cx="182880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05050"/>
                </a:solidFill>
              </a:defRPr>
            </a:pPr>
            <a:r>
              <a:t>无人机 Drone</a:t>
            </a:r>
          </a:p>
          <a:p>
            <a:r>
              <a:t>巡航/搜索/投送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6263640"/>
            <a:ext cx="182880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05050"/>
                </a:solidFill>
              </a:defRPr>
            </a:pPr>
            <a:r>
              <a:t>无人车 UGV</a:t>
            </a:r>
          </a:p>
          <a:p>
            <a:r>
              <a:t>巡逻/运输/抓取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6263640"/>
            <a:ext cx="182880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05050"/>
                </a:solidFill>
              </a:defRPr>
            </a:pPr>
            <a:r>
              <a:t>无人船 USV</a:t>
            </a:r>
          </a:p>
          <a:p>
            <a:r>
              <a:t>水域搜索/检测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008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数据流：PerceptionData → CognitiveOutput → PlanState → ExecutionResult | 关键技术：VLM视觉理解 | LLM推理决策 | WorldModel世界建模 | HTN分层规划 | 自适应执行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层间数据流详解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1280160"/>
          </a:xfrm>
          <a:prstGeom prst="roundRect">
            <a:avLst/>
          </a:prstGeom>
          <a:solidFill>
            <a:srgbClr val="FFEB9D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感知层输出 → PerceptionData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point_cloud: 点云数据 (xyz + intensity)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detections: 目标检测结果 [{label, bbox, confidence}]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semantic_objects: VLM语义理解 [{label, description}]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sensors_data: 传感器原始数据 {lidar, camera, imu}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timestamp: 时间戳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8229600" cy="1280160"/>
          </a:xfrm>
          <a:prstGeom prst="roundRect">
            <a:avLst/>
          </a:prstGeom>
          <a:solidFill>
            <a:srgbClr val="B3E5FC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048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认知层输出 → CognitiveOutput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planning_context: PlanningContext 规划上下文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└─ robot_state: 机器人状态 {position, battery}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└─ world_objects: 世界物体列表 [{id, label, position}]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└─ spatial_relations: 空间关系 ["杯子在桌子上"]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└─ tracked_objects: 追踪对象 [{id, position, velocity}]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environment_changes: 环境变化列表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40"/>
            <a:ext cx="8229600" cy="12801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2219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规划层输出 → PlanState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roots: List[PlanNode] 根节点列表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nodes: Dict[id, PlanNode] 所有节点索引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execution_history: List[Dict] 执行历史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PlanNode {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• id, name, action (goto/grasp/detect)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• preconditions: 前置条件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• expected_effects: 预期效果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• parameters: 参数 {location, speed}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  • status: 状态 (pending/executing/success/failed)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66360"/>
            <a:ext cx="8229600" cy="128016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395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执行层输出 → ExecutionResult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success: bool 成功/失败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action_id: str 动作ID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result: Dict 执行结果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error: Optional[str] 错误信息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失败恢复策略：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重试: retry_count &lt; 3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插入: 动态插入新动作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>
                <a:solidFill>
                  <a:srgbClr val="1E1E1E"/>
                </a:solidFill>
              </a:defRPr>
            </a:pPr>
            <a:r>
              <a:t>• 重规划: 触发ReplanningRules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大模型（VLM/LLM）应用位置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840480" cy="256032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71C1C"/>
                </a:solidFill>
              </a:defRPr>
            </a:pPr>
            <a:r>
              <a:t>VLM 视觉语言模型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71C1C"/>
                </a:solidFill>
              </a:defRPr>
            </a:pPr>
            <a:r>
              <a:t>【应用位置】感知层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B71C1C"/>
                </a:solidFill>
              </a:defRPr>
            </a:pPr>
            <a:r>
              <a:t>【模型】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LLaVA:7b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MiniCPM-V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Ollama本地部署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B71C1C"/>
                </a:solidFill>
              </a:defRPr>
            </a:pPr>
            <a:r>
              <a:t>【功能1】场景理解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摄像头图像RGB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场景描述 + 物体列表 + 空间关系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B71C1C"/>
                </a:solidFill>
              </a:defRPr>
            </a:pPr>
            <a:r>
              <a:t>【功能2】目标搜索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图像 + 目标描述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找到/未找到 + 位置 + 建议动作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B71C1C"/>
                </a:solidFill>
              </a:defRPr>
            </a:pPr>
            <a:r>
              <a:t>【功能3】空间问答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图像 + 问题("门在哪?")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方向 + 距离 + 描述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822960"/>
            <a:ext cx="3840480" cy="256032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03F9F"/>
                </a:solidFill>
              </a:defRPr>
            </a:pPr>
            <a:r>
              <a:t>LLM 大语言模型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3F9F"/>
                </a:solidFill>
              </a:defRPr>
            </a:pPr>
            <a:r>
              <a:t>【应用位置】认知层 CoT引擎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303F9F"/>
                </a:solidFill>
              </a:defRPr>
            </a:pPr>
            <a:r>
              <a:t>【模型】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GPT-4 (OpenAI API)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Claude (Anthropic API)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Llama3.1 (本地Ollama)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303F9F"/>
                </a:solidFill>
              </a:defRPr>
            </a:pPr>
            <a:r>
              <a:t>【功能1】链式思维推理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任务 + 环境上下文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推理链 + 决策 + 建议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特点: 可解释、可追溯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303F9F"/>
                </a:solidFill>
              </a:defRPr>
            </a:pPr>
            <a:r>
              <a:t>【功能2】任务分解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自然语言指令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HTN任务树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示例: "搜索灾区" → [巡航,搜索,检测,报告]</a:t>
            </a:r>
          </a:p>
          <a:p>
            <a:pPr>
              <a:defRPr sz="1000">
                <a:solidFill>
                  <a:srgbClr val="000000"/>
                </a:solidFill>
              </a:defRPr>
            </a:pPr>
          </a:p>
          <a:p>
            <a:pPr>
              <a:defRPr sz="1000" b="1">
                <a:solidFill>
                  <a:srgbClr val="303F9F"/>
                </a:solidFill>
              </a:defRPr>
            </a:pPr>
            <a:r>
              <a:t>【功能3】异常处理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输入: 失败信息 + 上下文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  输出: 原因分析 + 恢复策略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8229600" cy="292608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05050"/>
                </a:solidFill>
              </a:defRPr>
            </a:pPr>
            <a:r>
              <a:t>完整数据流（大模型驱动）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步骤1: VLM场景理解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摄像头图像 → VLM(LLaVA) → 场景描述 + 物体列表 + 空间关系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输出示例: "前方有倒塌建筑，门位于正面中央，左侧有开放空间"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步骤2: VLM目标搜索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用户指令("去建筑门口") + 图像 → VLM → 目标位置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输出示例: "目标在图像中央，距离约20米，建议直行"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步骤3: 感知数据融合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点云 + VLM结果 → FusionEngine → PerceptionData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输出: 完整感知数据包(包含几何+语义)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步骤4: LLM推理决策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PerceptionData + 任务 → CoT引擎(GPT-4) → ReasoningResult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输出: "步骤1:环境分析...步骤2:路径规划...决策:执行搜索任务"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步骤5: HTN任务分解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ReasoningResult + PlanningContext → TaskLevelPlanner → PlanState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输出: HTN任务树 [goto(门口) → detect_door → open_door → enter]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步骤6: 执行与反馈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PlanState → Executor → 平台执行 → ObservationResult</a:t>
            </a:r>
          </a:p>
          <a:p>
            <a:pPr>
              <a:lnSpc>
                <a:spcPct val="130000"/>
              </a:lnSpc>
              <a:defRPr sz="900">
                <a:solidFill>
                  <a:srgbClr val="000000"/>
                </a:solidFill>
              </a:defRPr>
            </a:pPr>
            <a:r>
              <a:t>  → 输出: 成功/失败 → 更新WorldModel → 循环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