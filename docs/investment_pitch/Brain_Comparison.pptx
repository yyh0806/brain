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3366"/>
                </a:solidFill>
              </a:defRPr>
            </a:pPr>
            <a:r>
              <a:t>传统机器人 vs Brain 系统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8580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646464"/>
                </a:solidFill>
              </a:defRPr>
            </a:pPr>
            <a:r>
              <a:t>为什么需要 Brain？传统机器人的核心痛点 vs 我们的解决方案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188720"/>
            <a:ext cx="4114800" cy="5303520"/>
          </a:xfrm>
          <a:prstGeom prst="roundRect">
            <a:avLst/>
          </a:prstGeom>
          <a:solidFill>
            <a:srgbClr val="FFEBEE"/>
          </a:solidFill>
          <a:ln w="3810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37490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B71C1C"/>
                </a:solidFill>
              </a:defRPr>
            </a:pPr>
            <a:r>
              <a:t>❌ 传统机器人系统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3749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B71C1C"/>
                </a:solidFill>
              </a:defRPr>
            </a:pPr>
            <a:r>
              <a:t>🔴 开发成本高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84832"/>
            <a:ext cx="374903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"/>
              </a:spcBef>
              <a:spcAft>
                <a:spcPts val="100"/>
              </a:spcAft>
              <a:defRPr sz="1000">
                <a:solidFill>
                  <a:srgbClr val="505050"/>
                </a:solidFill>
              </a:defRPr>
            </a:pPr>
            <a:r>
              <a:t>• 每个平台独立开发: 6-12个月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000">
                <a:solidFill>
                  <a:srgbClr val="505050"/>
                </a:solidFill>
              </a:defRPr>
            </a:pPr>
            <a:r>
              <a:t>• 代码无法复用: 重复造轮子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000">
                <a:solidFill>
                  <a:srgbClr val="505050"/>
                </a:solidFill>
              </a:defRPr>
            </a:pPr>
            <a:r>
              <a:t>• 人力成本: 50-100万元/年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000">
                <a:solidFill>
                  <a:srgbClr val="505050"/>
                </a:solidFill>
              </a:defRPr>
            </a:pPr>
            <a:r>
              <a:t>• 维护困难: 多套代码并行维护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26080"/>
            <a:ext cx="3749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B71C1C"/>
                </a:solidFill>
              </a:defRPr>
            </a:pPr>
            <a:r>
              <a:t>🔴 智能程度低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82112"/>
            <a:ext cx="374903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"/>
              </a:spcBef>
              <a:spcAft>
                <a:spcPts val="100"/>
              </a:spcAft>
              <a:defRPr sz="1000">
                <a:solidFill>
                  <a:srgbClr val="505050"/>
                </a:solidFill>
              </a:defRPr>
            </a:pPr>
            <a:r>
              <a:t>• 只能执行预设任务: 编程写死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000">
                <a:solidFill>
                  <a:srgbClr val="505050"/>
                </a:solidFill>
              </a:defRPr>
            </a:pPr>
            <a:r>
              <a:t>• 无法理解环境: 盲目执行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000">
                <a:solidFill>
                  <a:srgbClr val="505050"/>
                </a:solidFill>
              </a:defRPr>
            </a:pPr>
            <a:r>
              <a:t>• 遇到变化就傻: 停机待命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000">
                <a:solidFill>
                  <a:srgbClr val="505050"/>
                </a:solidFill>
              </a:defRPr>
            </a:pPr>
            <a:r>
              <a:t>• 依赖人工干预: 远程遥控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023360"/>
            <a:ext cx="3749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B71C1C"/>
                </a:solidFill>
              </a:defRPr>
            </a:pPr>
            <a:r>
              <a:t>🔴 协作能力差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279392"/>
            <a:ext cx="374903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"/>
              </a:spcBef>
              <a:spcAft>
                <a:spcPts val="100"/>
              </a:spcAft>
              <a:defRPr sz="1000">
                <a:solidFill>
                  <a:srgbClr val="505050"/>
                </a:solidFill>
              </a:defRPr>
            </a:pPr>
            <a:r>
              <a:t>• 单机作战: 无法协同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000">
                <a:solidFill>
                  <a:srgbClr val="505050"/>
                </a:solidFill>
              </a:defRPr>
            </a:pPr>
            <a:r>
              <a:t>• 通信困难: 协议不统一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000">
                <a:solidFill>
                  <a:srgbClr val="505050"/>
                </a:solidFill>
              </a:defRPr>
            </a:pPr>
            <a:r>
              <a:t>• 任务分配: 人工指定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000">
                <a:solidFill>
                  <a:srgbClr val="505050"/>
                </a:solidFill>
              </a:defRPr>
            </a:pPr>
            <a:r>
              <a:t>• 效率低下: 重复劳动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120640"/>
            <a:ext cx="3749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B71C1C"/>
                </a:solidFill>
              </a:defRPr>
            </a:pPr>
            <a:r>
              <a:t>🔴 适应性弱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376672"/>
            <a:ext cx="374903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"/>
              </a:spcBef>
              <a:spcAft>
                <a:spcPts val="100"/>
              </a:spcAft>
              <a:defRPr sz="1000">
                <a:solidFill>
                  <a:srgbClr val="505050"/>
                </a:solidFill>
              </a:defRPr>
            </a:pPr>
            <a:r>
              <a:t>• 环境变化: 需重新编程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000">
                <a:solidFill>
                  <a:srgbClr val="505050"/>
                </a:solidFill>
              </a:defRPr>
            </a:pPr>
            <a:r>
              <a:t>• 任务变化: 需重新部署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000">
                <a:solidFill>
                  <a:srgbClr val="505050"/>
                </a:solidFill>
              </a:defRPr>
            </a:pPr>
            <a:r>
              <a:t>• 失败处理: 等待人工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000">
                <a:solidFill>
                  <a:srgbClr val="505050"/>
                </a:solidFill>
              </a:defRPr>
            </a:pPr>
            <a:r>
              <a:t>• 扩展困难: 硬编码限制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54880" y="1188720"/>
            <a:ext cx="4114800" cy="5303520"/>
          </a:xfrm>
          <a:prstGeom prst="roundRect">
            <a:avLst/>
          </a:prstGeom>
          <a:solidFill>
            <a:srgbClr val="E8F5E9"/>
          </a:solidFill>
          <a:ln w="381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37760" y="1325880"/>
            <a:ext cx="37490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B5E20"/>
                </a:solidFill>
              </a:defRPr>
            </a:pPr>
            <a:r>
              <a:t>✅ Brain 智能系统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1828800"/>
            <a:ext cx="3749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B5E20"/>
                </a:solidFill>
              </a:defRPr>
            </a:pPr>
            <a:r>
              <a:t>🟢 开发成本低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2084832"/>
            <a:ext cx="374903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"/>
              </a:spcBef>
              <a:spcAft>
                <a:spcPts val="100"/>
              </a:spcAft>
              <a:defRPr sz="1000">
                <a:solidFill>
                  <a:srgbClr val="505050"/>
                </a:solidFill>
              </a:defRPr>
            </a:pPr>
            <a:r>
              <a:t>• 一次开发多平台复用: 3个月内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000">
                <a:solidFill>
                  <a:srgbClr val="505050"/>
                </a:solidFill>
              </a:defRPr>
            </a:pPr>
            <a:r>
              <a:t>• 代码复用率90%: 大幅降低成本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000">
                <a:solidFill>
                  <a:srgbClr val="505050"/>
                </a:solidFill>
              </a:defRPr>
            </a:pPr>
            <a:r>
              <a:t>• 人力成本: 15-30万元/年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000">
                <a:solidFill>
                  <a:srgbClr val="505050"/>
                </a:solidFill>
              </a:defRPr>
            </a:pPr>
            <a:r>
              <a:t>• 易于维护: 统一架构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0" y="2926080"/>
            <a:ext cx="3749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B5E20"/>
                </a:solidFill>
              </a:defRPr>
            </a:pPr>
            <a:r>
              <a:t>🟢 智能程度高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0" y="3182112"/>
            <a:ext cx="374903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"/>
              </a:spcBef>
              <a:spcAft>
                <a:spcPts val="100"/>
              </a:spcAft>
              <a:defRPr sz="1000">
                <a:solidFill>
                  <a:srgbClr val="505050"/>
                </a:solidFill>
              </a:defRPr>
            </a:pPr>
            <a:r>
              <a:t>• VLM理解场景: 看懂环境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000">
                <a:solidFill>
                  <a:srgbClr val="505050"/>
                </a:solidFill>
              </a:defRPr>
            </a:pPr>
            <a:r>
              <a:t>• LLM推理决策: 自主规划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000">
                <a:solidFill>
                  <a:srgbClr val="505050"/>
                </a:solidFill>
              </a:defRPr>
            </a:pPr>
            <a:r>
              <a:t>• 遇到变化自适应: 实时调整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000">
                <a:solidFill>
                  <a:srgbClr val="505050"/>
                </a:solidFill>
              </a:defRPr>
            </a:pPr>
            <a:r>
              <a:t>• 自主执行: 无需人工干预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60" y="4023360"/>
            <a:ext cx="3749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B5E20"/>
                </a:solidFill>
              </a:defRPr>
            </a:pPr>
            <a:r>
              <a:t>🟢 协作能力强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4279392"/>
            <a:ext cx="374903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"/>
              </a:spcBef>
              <a:spcAft>
                <a:spcPts val="100"/>
              </a:spcAft>
              <a:defRPr sz="1000">
                <a:solidFill>
                  <a:srgbClr val="505050"/>
                </a:solidFill>
              </a:defRPr>
            </a:pPr>
            <a:r>
              <a:t>• 多机协同: 自动任务分配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000">
                <a:solidFill>
                  <a:srgbClr val="505050"/>
                </a:solidFill>
              </a:defRPr>
            </a:pPr>
            <a:r>
              <a:t>• 统一通信: 标准化接口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000">
                <a:solidFill>
                  <a:srgbClr val="505050"/>
                </a:solidFill>
              </a:defRPr>
            </a:pPr>
            <a:r>
              <a:t>• 智能调度: 动态优化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000">
                <a:solidFill>
                  <a:srgbClr val="505050"/>
                </a:solidFill>
              </a:defRPr>
            </a:pPr>
            <a:r>
              <a:t>• 效率提升: 3-5倍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37760" y="5120640"/>
            <a:ext cx="3749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B5E20"/>
                </a:solidFill>
              </a:defRPr>
            </a:pPr>
            <a:r>
              <a:t>🟢 适应性极强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37760" y="5376672"/>
            <a:ext cx="374903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"/>
              </a:spcBef>
              <a:spcAft>
                <a:spcPts val="100"/>
              </a:spcAft>
              <a:defRPr sz="1000">
                <a:solidFill>
                  <a:srgbClr val="505050"/>
                </a:solidFill>
              </a:defRPr>
            </a:pPr>
            <a:r>
              <a:t>• 环境变化: 自动重规划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000">
                <a:solidFill>
                  <a:srgbClr val="505050"/>
                </a:solidFill>
              </a:defRPr>
            </a:pPr>
            <a:r>
              <a:t>• 任务变化: 自然语言理解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000">
                <a:solidFill>
                  <a:srgbClr val="505050"/>
                </a:solidFill>
              </a:defRPr>
            </a:pPr>
            <a:r>
              <a:t>• 失败处理: 自动恢复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000">
                <a:solidFill>
                  <a:srgbClr val="505050"/>
                </a:solidFill>
              </a:defRPr>
            </a:pPr>
            <a:r>
              <a:t>• 灵活扩展: 插件化架构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06240" y="347472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9800"/>
                </a:solidFill>
              </a:defRPr>
            </a:pPr>
            <a:r>
              <a:t>VS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4320" y="6583680"/>
            <a:ext cx="8595360" cy="548640"/>
          </a:xfrm>
          <a:prstGeom prst="roundRect">
            <a:avLst/>
          </a:prstGeom>
          <a:solidFill>
            <a:srgbClr val="2196F3"/>
          </a:solidFill>
          <a:ln w="25400"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66294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💡 核心优势：World Model 理解世界 + CoT 推理决策 + HTN 分层规划 + 自适应执行 = 通用智能机器人操作系统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3366"/>
                </a:solidFill>
              </a:defRPr>
            </a:pPr>
            <a:r>
              <a:t>量化对比：数据说话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914400"/>
            <a:ext cx="2743200" cy="2011680"/>
          </a:xfrm>
          <a:prstGeom prst="roundRect">
            <a:avLst/>
          </a:prstGeom>
          <a:solidFill>
            <a:srgbClr val="FAFAFA"/>
          </a:solidFill>
          <a:ln w="254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9800"/>
                </a:solidFill>
              </a:defRPr>
            </a:pPr>
            <a:r>
              <a:t>开发周期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71C1C"/>
                </a:solidFill>
              </a:defRPr>
            </a:pPr>
            <a:r>
              <a:t>传统: 6-12个月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B5E20"/>
                </a:solidFill>
              </a:defRPr>
            </a:pPr>
            <a:r>
              <a:t>Brain: 3个月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65960"/>
            <a:ext cx="2194560" cy="365760"/>
          </a:xfrm>
          <a:prstGeom prst="roundRect">
            <a:avLst/>
          </a:prstGeom>
          <a:solidFill>
            <a:srgbClr val="FF98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011680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↑ 70%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46120" y="914400"/>
            <a:ext cx="2743200" cy="2011680"/>
          </a:xfrm>
          <a:prstGeom prst="roundRect">
            <a:avLst/>
          </a:prstGeom>
          <a:solidFill>
            <a:srgbClr val="FAFAFA"/>
          </a:solidFill>
          <a:ln w="25400"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0058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9C27B0"/>
                </a:solidFill>
              </a:defRPr>
            </a:pPr>
            <a:r>
              <a:t>代码复用率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371600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71C1C"/>
                </a:solidFill>
              </a:defRPr>
            </a:pPr>
            <a:r>
              <a:t>传统: 0-10%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1645920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B5E20"/>
                </a:solidFill>
              </a:defRPr>
            </a:pPr>
            <a:r>
              <a:t>Brain: 90%+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20440" y="1965960"/>
            <a:ext cx="2194560" cy="365760"/>
          </a:xfrm>
          <a:prstGeom prst="roundRect">
            <a:avLst/>
          </a:prstGeom>
          <a:solidFill>
            <a:srgbClr val="9C27B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0440" y="2011680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↑ 9倍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914400"/>
            <a:ext cx="2743200" cy="2011680"/>
          </a:xfrm>
          <a:prstGeom prst="roundRect">
            <a:avLst/>
          </a:prstGeom>
          <a:solidFill>
            <a:srgbClr val="FAFAFA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10058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2E7D32"/>
                </a:solidFill>
              </a:defRPr>
            </a:pPr>
            <a:r>
              <a:t>开发成本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1371600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71C1C"/>
                </a:solidFill>
              </a:defRPr>
            </a:pPr>
            <a:r>
              <a:t>传统: 50-100万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1645920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B5E20"/>
                </a:solidFill>
              </a:defRPr>
            </a:pPr>
            <a:r>
              <a:t>Brain: 15-30万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965960"/>
            <a:ext cx="2194560" cy="365760"/>
          </a:xfrm>
          <a:prstGeom prst="roundRect">
            <a:avLst/>
          </a:prstGeom>
          <a:solidFill>
            <a:srgbClr val="2E7D3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2011680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↑ 70%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3063240"/>
            <a:ext cx="2743200" cy="2011680"/>
          </a:xfrm>
          <a:prstGeom prst="roundRect">
            <a:avLst/>
          </a:prstGeom>
          <a:solidFill>
            <a:srgbClr val="FAFAFA"/>
          </a:solidFill>
          <a:ln w="25400">
            <a:solidFill>
              <a:srgbClr val="009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315468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097A7"/>
                </a:solidFill>
              </a:defRPr>
            </a:pPr>
            <a:r>
              <a:t>任务适应性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520440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71C1C"/>
                </a:solidFill>
              </a:defRPr>
            </a:pPr>
            <a:r>
              <a:t>传统: 需重新编程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3794760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B5E20"/>
                </a:solidFill>
              </a:defRPr>
            </a:pPr>
            <a:r>
              <a:t>Brain: 自然语言理解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4114800"/>
            <a:ext cx="2194560" cy="365760"/>
          </a:xfrm>
          <a:prstGeom prst="roundRect">
            <a:avLst/>
          </a:prstGeom>
          <a:solidFill>
            <a:srgbClr val="0097A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160520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↑ 质变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246120" y="3063240"/>
            <a:ext cx="2743200" cy="2011680"/>
          </a:xfrm>
          <a:prstGeom prst="roundRect">
            <a:avLst/>
          </a:prstGeom>
          <a:solidFill>
            <a:srgbClr val="FAFAFA"/>
          </a:solidFill>
          <a:ln w="25400">
            <a:solidFill>
              <a:srgbClr val="E91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37560" y="315468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E91E63"/>
                </a:solidFill>
              </a:defRPr>
            </a:pPr>
            <a:r>
              <a:t>多机协作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37560" y="3520440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71C1C"/>
                </a:solidFill>
              </a:defRPr>
            </a:pPr>
            <a:r>
              <a:t>传统: 不支持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37560" y="3794760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B5E20"/>
                </a:solidFill>
              </a:defRPr>
            </a:pPr>
            <a:r>
              <a:t>Brain: 原生支持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520440" y="4114800"/>
            <a:ext cx="2194560" cy="365760"/>
          </a:xfrm>
          <a:prstGeom prst="roundRect">
            <a:avLst/>
          </a:prstGeom>
          <a:solidFill>
            <a:srgbClr val="E91E6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520440" y="4160520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↑ 从0到1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26480" y="3063240"/>
            <a:ext cx="2743200" cy="2011680"/>
          </a:xfrm>
          <a:prstGeom prst="roundRect">
            <a:avLst/>
          </a:prstGeom>
          <a:solidFill>
            <a:srgbClr val="FAFAFA"/>
          </a:solidFill>
          <a:ln w="254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17920" y="315468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C107"/>
                </a:solidFill>
              </a:defRPr>
            </a:pPr>
            <a:r>
              <a:t>失败恢复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0" y="3520440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71C1C"/>
                </a:solidFill>
              </a:defRPr>
            </a:pPr>
            <a:r>
              <a:t>传统: 人工处理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0" y="3794760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B5E20"/>
                </a:solidFill>
              </a:defRPr>
            </a:pPr>
            <a:r>
              <a:t>Brain: 自动恢复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0" y="4114800"/>
            <a:ext cx="2194560" cy="365760"/>
          </a:xfrm>
          <a:prstGeom prst="roundRect">
            <a:avLst/>
          </a:prstGeom>
          <a:solidFill>
            <a:srgbClr val="FFC10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0" y="4160520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↑ 100%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59436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 sz="1400">
                <a:solidFill>
                  <a:srgbClr val="003366"/>
                </a:solidFill>
              </a:defRPr>
            </a:pPr>
            <a:r>
              <a:t>🎯 关键结论：Brain 系统在所有核心指标上都有显著提升，特别是代码复用率（9倍）和开发成本（降低70%）</a:t>
            </a:r>
          </a:p>
          <a:p>
            <a:r>
              <a:t>这意味着：更快的上市时间、更低的开发成本、更强的智能能力、更好的扩展性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3366"/>
                </a:solidFill>
              </a:defRPr>
            </a:pPr>
            <a:r>
              <a:t>架构对比：硬编码 vs 智能化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914400"/>
            <a:ext cx="4114800" cy="5029200"/>
          </a:xfrm>
          <a:prstGeom prst="roundRect">
            <a:avLst/>
          </a:prstGeom>
          <a:solidFill>
            <a:srgbClr val="FFEBEE"/>
          </a:solidFill>
          <a:ln w="2540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37490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B71C1C"/>
                </a:solidFill>
              </a:defRPr>
            </a:pPr>
            <a:r>
              <a:t>传统架构：硬编码规则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3749039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459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B71C1C"/>
                </a:solidFill>
              </a:defRPr>
            </a:pPr>
            <a:r>
              <a:t>应用层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37490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05050"/>
                </a:solidFill>
              </a:defRPr>
            </a:pPr>
            <a:r>
              <a:t>if position == kitchen:</a:t>
            </a:r>
          </a:p>
          <a:p>
            <a:pPr>
              <a:defRPr sz="900">
                <a:solidFill>
                  <a:srgbClr val="505050"/>
                </a:solidFill>
              </a:defRPr>
            </a:pPr>
            <a:r>
              <a:t>    goto(kitchen)</a:t>
            </a:r>
          </a:p>
          <a:p>
            <a:pPr>
              <a:defRPr sz="900">
                <a:solidFill>
                  <a:srgbClr val="505050"/>
                </a:solidFill>
              </a:defRPr>
            </a:pPr>
            <a:r>
              <a:t>if object == cup:</a:t>
            </a:r>
          </a:p>
          <a:p>
            <a:pPr>
              <a:defRPr sz="900">
                <a:solidFill>
                  <a:srgbClr val="505050"/>
                </a:solidFill>
              </a:defRPr>
            </a:pPr>
            <a:r>
              <a:t>    grasp(cup)</a:t>
            </a:r>
          </a:p>
          <a:p>
            <a:pPr>
              <a:defRPr sz="900">
                <a:solidFill>
                  <a:srgbClr val="505050"/>
                </a:solidFill>
              </a:defRPr>
            </a:pPr>
            <a:r>
              <a:t># 硬编码逻辑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743200"/>
            <a:ext cx="3749039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8346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B71C1C"/>
                </a:solidFill>
              </a:defRPr>
            </a:pPr>
            <a:r>
              <a:t>控制层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108960"/>
            <a:ext cx="37490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05050"/>
                </a:solidFill>
              </a:defRPr>
            </a:pPr>
            <a:r>
              <a:t>motor_control(speed, angle)</a:t>
            </a:r>
          </a:p>
          <a:p>
            <a:pPr>
              <a:defRPr sz="900">
                <a:solidFill>
                  <a:srgbClr val="505050"/>
                </a:solidFill>
              </a:defRPr>
            </a:pPr>
            <a:r>
              <a:t># 底层控制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931920"/>
            <a:ext cx="3749039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40233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B71C1C"/>
                </a:solidFill>
              </a:defRPr>
            </a:pPr>
            <a:r>
              <a:t>驱动层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297680"/>
            <a:ext cx="37490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05050"/>
                </a:solidFill>
              </a:defRPr>
            </a:pPr>
            <a:r>
              <a:t>PWM输出</a:t>
            </a:r>
          </a:p>
          <a:p>
            <a:pPr>
              <a:defRPr sz="900">
                <a:solidFill>
                  <a:srgbClr val="505050"/>
                </a:solidFill>
              </a:defRPr>
            </a:pPr>
            <a:r>
              <a:t>传感器读取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303520"/>
            <a:ext cx="37490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B71C1C"/>
                </a:solidFill>
              </a:defRPr>
            </a:pPr>
            <a:r>
              <a:t>❌ 问题：</a:t>
            </a:r>
          </a:p>
          <a:p>
            <a:pPr>
              <a:defRPr sz="1000">
                <a:solidFill>
                  <a:srgbClr val="B71C1C"/>
                </a:solidFill>
              </a:defRPr>
            </a:pPr>
            <a:r>
              <a:t>• 环境变化需要重写代码</a:t>
            </a:r>
          </a:p>
          <a:p>
            <a:pPr>
              <a:defRPr sz="1000">
                <a:solidFill>
                  <a:srgbClr val="B71C1C"/>
                </a:solidFill>
              </a:defRPr>
            </a:pPr>
            <a:r>
              <a:t>• 任务增加需要添加if-else</a:t>
            </a:r>
          </a:p>
          <a:p>
            <a:pPr>
              <a:defRPr sz="1000">
                <a:solidFill>
                  <a:srgbClr val="B71C1C"/>
                </a:solidFill>
              </a:defRPr>
            </a:pPr>
            <a:r>
              <a:t>• 无法理解复杂场景</a:t>
            </a:r>
          </a:p>
          <a:p>
            <a:pPr>
              <a:defRPr sz="1000">
                <a:solidFill>
                  <a:srgbClr val="B71C1C"/>
                </a:solidFill>
              </a:defRPr>
            </a:pPr>
            <a:r>
              <a:t>• 维护成本高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54880" y="914400"/>
            <a:ext cx="4114800" cy="502920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37760" y="1051560"/>
            <a:ext cx="37490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B5E20"/>
                </a:solidFill>
              </a:defRPr>
            </a:pPr>
            <a:r>
              <a:t>Brain 架构：AI 驱动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37760" y="1554480"/>
            <a:ext cx="3749039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74920" y="16459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B5E20"/>
                </a:solidFill>
              </a:defRPr>
            </a:pPr>
            <a:r>
              <a:t>执行层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169164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000">
                <a:solidFill>
                  <a:srgbClr val="505050"/>
                </a:solidFill>
              </a:defRPr>
            </a:pPr>
            <a:r>
              <a:t>自适应执行引擎</a:t>
            </a:r>
          </a:p>
          <a:p>
            <a:pPr>
              <a:lnSpc>
                <a:spcPct val="130000"/>
              </a:lnSpc>
              <a:defRPr sz="1000">
                <a:solidFill>
                  <a:srgbClr val="505050"/>
                </a:solidFill>
              </a:defRPr>
            </a:pPr>
            <a:r>
              <a:t>失败自动恢复</a:t>
            </a:r>
          </a:p>
          <a:p>
            <a:pPr>
              <a:lnSpc>
                <a:spcPct val="130000"/>
              </a:lnSpc>
              <a:defRPr sz="1000">
                <a:solidFill>
                  <a:srgbClr val="505050"/>
                </a:solidFill>
              </a:defRPr>
            </a:pPr>
            <a:r>
              <a:t>实时监控调整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937760" y="2743200"/>
            <a:ext cx="3749039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74920" y="28346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B5E20"/>
                </a:solidFill>
              </a:defRPr>
            </a:pPr>
            <a:r>
              <a:t>规划层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288036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000">
                <a:solidFill>
                  <a:srgbClr val="505050"/>
                </a:solidFill>
              </a:defRPr>
            </a:pPr>
            <a:r>
              <a:t>HTN分层规划</a:t>
            </a:r>
          </a:p>
          <a:p>
            <a:pPr>
              <a:lnSpc>
                <a:spcPct val="130000"/>
              </a:lnSpc>
              <a:defRPr sz="1000">
                <a:solidFill>
                  <a:srgbClr val="505050"/>
                </a:solidFill>
              </a:defRPr>
            </a:pPr>
            <a:r>
              <a:t>动态推理</a:t>
            </a:r>
          </a:p>
          <a:p>
            <a:pPr>
              <a:lnSpc>
                <a:spcPct val="130000"/>
              </a:lnSpc>
              <a:defRPr sz="1000">
                <a:solidFill>
                  <a:srgbClr val="505050"/>
                </a:solidFill>
              </a:defRPr>
            </a:pPr>
            <a:r>
              <a:t>任务自动分解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937760" y="3931920"/>
            <a:ext cx="3749039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74920" y="40233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B5E20"/>
                </a:solidFill>
              </a:defRPr>
            </a:pPr>
            <a:r>
              <a:t>认知层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0" y="406908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000">
                <a:solidFill>
                  <a:srgbClr val="505050"/>
                </a:solidFill>
              </a:defRPr>
            </a:pPr>
            <a:r>
              <a:t>World Model + CoT</a:t>
            </a:r>
          </a:p>
          <a:p>
            <a:pPr>
              <a:lnSpc>
                <a:spcPct val="130000"/>
              </a:lnSpc>
              <a:defRPr sz="1000">
                <a:solidFill>
                  <a:srgbClr val="505050"/>
                </a:solidFill>
              </a:defRPr>
            </a:pPr>
            <a:r>
              <a:t>理解环境</a:t>
            </a:r>
          </a:p>
          <a:p>
            <a:pPr>
              <a:lnSpc>
                <a:spcPct val="130000"/>
              </a:lnSpc>
              <a:defRPr sz="1000">
                <a:solidFill>
                  <a:srgbClr val="505050"/>
                </a:solidFill>
              </a:defRPr>
            </a:pPr>
            <a:r>
              <a:t>推理决策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937760" y="5120640"/>
            <a:ext cx="3749039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74920" y="52120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B5E20"/>
                </a:solidFill>
              </a:defRPr>
            </a:pPr>
            <a:r>
              <a:t>感知层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6480" y="525780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000">
                <a:solidFill>
                  <a:srgbClr val="505050"/>
                </a:solidFill>
              </a:defRPr>
            </a:pPr>
            <a:r>
              <a:t>VLM多模态融合</a:t>
            </a:r>
          </a:p>
          <a:p>
            <a:pPr>
              <a:lnSpc>
                <a:spcPct val="130000"/>
              </a:lnSpc>
              <a:defRPr sz="1000">
                <a:solidFill>
                  <a:srgbClr val="505050"/>
                </a:solidFill>
              </a:defRPr>
            </a:pPr>
            <a:r>
              <a:t>看懂场景</a:t>
            </a:r>
          </a:p>
          <a:p>
            <a:pPr>
              <a:lnSpc>
                <a:spcPct val="130000"/>
              </a:lnSpc>
              <a:defRPr sz="1000">
                <a:solidFill>
                  <a:srgbClr val="505050"/>
                </a:solidFill>
              </a:defRPr>
            </a:pPr>
            <a:r>
              <a:t>语义理解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37760" y="6492240"/>
            <a:ext cx="37490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B5E20"/>
                </a:solidFill>
              </a:defRPr>
            </a:pPr>
            <a:r>
              <a:t>✅ 优势：</a:t>
            </a:r>
          </a:p>
          <a:p>
            <a:pPr>
              <a:defRPr sz="1000">
                <a:solidFill>
                  <a:srgbClr val="1B5E20"/>
                </a:solidFill>
              </a:defRPr>
            </a:pPr>
            <a:r>
              <a:t>• 自然语言理解任务</a:t>
            </a:r>
          </a:p>
          <a:p>
            <a:pPr>
              <a:defRPr sz="1000">
                <a:solidFill>
                  <a:srgbClr val="1B5E20"/>
                </a:solidFill>
              </a:defRPr>
            </a:pPr>
            <a:r>
              <a:t>• 环境变化自动适应</a:t>
            </a:r>
          </a:p>
          <a:p>
            <a:pPr>
              <a:defRPr sz="1000">
                <a:solidFill>
                  <a:srgbClr val="1B5E20"/>
                </a:solidFill>
              </a:defRPr>
            </a:pPr>
            <a:r>
              <a:t>• 智能推理决策</a:t>
            </a:r>
          </a:p>
          <a:p>
            <a:pPr>
              <a:defRPr sz="1000">
                <a:solidFill>
                  <a:srgbClr val="1B5E20"/>
                </a:solidFill>
              </a:defRPr>
            </a:pPr>
            <a:r>
              <a:t>• 一次开发多平台复用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0" y="32004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9800"/>
                </a:solidFill>
              </a:defRPr>
            </a:pPr>
            <a:r>
              <a:t>进化 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1264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3366"/>
                </a:solidFill>
              </a:defRPr>
            </a:pPr>
            <a:r>
              <a:t>🚀 核心差异：传统系统是 '程序控制'（写死的逻辑），Brain 是 '智能决策'（AI驱动的自适应）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