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各层接口与数据流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188720"/>
          </a:xfrm>
          <a:prstGeom prst="roundRect">
            <a:avLst/>
          </a:prstGeom>
          <a:solidFill>
            <a:srgbClr val="FFE0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t>感知层输出 → 认知层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PerceptionData {</a:t>
            </a:r>
          </a:p>
          <a:p>
            <a:r>
              <a:t>  • point_cloud: 点云数据 (xyz + intensity)</a:t>
            </a:r>
          </a:p>
          <a:p>
            <a:r>
              <a:t>  • detections: 目标检测结果 [{label, bbox, confidence, position_3d}]</a:t>
            </a:r>
          </a:p>
          <a:p>
            <a:r>
              <a:t>  • semantic_objects: VLM语义理解结果 [{label, description, bbox, attributes}]</a:t>
            </a:r>
          </a:p>
          <a:p>
            <a:r>
              <a:t>  • sensors_data: 传感器原始数据 {lidar, camera, imu, gps}</a:t>
            </a:r>
          </a:p>
          <a:p>
            <a:r>
              <a:t>  • timestamp: 时间戳</a:t>
            </a:r>
          </a:p>
          <a:p>
            <a:r>
              <a:t>}</a:t>
            </a:r>
          </a:p>
          <a:p/>
          <a:p>
            <a:r>
              <a:t>关键接口：</a:t>
            </a:r>
          </a:p>
          <a:p>
            <a:r>
              <a:t>process_perception(perception_data) -&gt; CognitiveOutput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8229600" cy="1188720"/>
          </a:xfrm>
          <a:prstGeom prst="roundRect">
            <a:avLst/>
          </a:prstGeom>
          <a:solidFill>
            <a:srgbClr val="B2EBF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t>认知层输出 → 规划层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CognitiveOutput {</a:t>
            </a:r>
          </a:p>
          <a:p>
            <a:r>
              <a:t>  • planning_context: PlanningContext</a:t>
            </a:r>
          </a:p>
          <a:p>
            <a:r>
              <a:t>      - robot_state: 机器人状态 {position, battery, capabilities}</a:t>
            </a:r>
          </a:p>
          <a:p>
            <a:r>
              <a:t>      - world_objects: 世界物体列表 [{id, label, position, attributes}]</a:t>
            </a:r>
          </a:p>
          <a:p>
            <a:r>
              <a:t>      - spatial_relations: 空间关系 ["杯子在桌子上"]</a:t>
            </a:r>
          </a:p>
          <a:p>
            <a:r>
              <a:t>      - tracked_objects: 追踪对象 [{id, position, velocity, history}]</a:t>
            </a:r>
          </a:p>
          <a:p>
            <a:r>
              <a:t>  • environment_changes: 环境变化列表</a:t>
            </a:r>
          </a:p>
          <a:p>
            <a:r>
              <a:t>  • timestamp: 时间戳</a:t>
            </a:r>
          </a:p>
          <a:p>
            <a:r>
              <a:t>}</a:t>
            </a:r>
          </a:p>
          <a:p/>
          <a:p>
            <a:r>
              <a:t>关键接口：</a:t>
            </a:r>
          </a:p>
          <a:p>
            <a:r>
              <a:t>get_planning_context() -&gt; PlanningContext</a:t>
            </a:r>
          </a:p>
          <a:p>
            <a:r>
              <a:t>reason(query, context, mode) -&gt; ReasoningResult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1188720"/>
          </a:xfrm>
          <a:prstGeom prst="roundRect">
            <a:avLst/>
          </a:prstGeom>
          <a:solidFill>
            <a:srgbClr val="B2FFB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t>规划层输出 → 执行层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PlanState {</a:t>
            </a:r>
          </a:p>
          <a:p>
            <a:r>
              <a:t>  • roots: List[PlanNode]  # 根节点列表</a:t>
            </a:r>
          </a:p>
          <a:p>
            <a:r>
              <a:t>  • nodes: Dict[id, PlanNode]  # 所有节点索引</a:t>
            </a:r>
          </a:p>
          <a:p>
            <a:r>
              <a:t>  • execution_history: List[Dict]  # 执行历史</a:t>
            </a:r>
          </a:p>
          <a:p>
            <a:r>
              <a:t>}</a:t>
            </a:r>
          </a:p>
          <a:p/>
          <a:p>
            <a:r>
              <a:t>PlanNode {</a:t>
            </a:r>
          </a:p>
          <a:p>
            <a:r>
              <a:t>  • id: 节点ID</a:t>
            </a:r>
          </a:p>
          <a:p>
            <a:r>
              <a:t>  • name: 节点名称</a:t>
            </a:r>
          </a:p>
          <a:p>
            <a:r>
              <a:t>  • action: 动作类型 (goto/grasp/detect/...)</a:t>
            </a:r>
          </a:p>
          <a:p>
            <a:r>
              <a:t>  • preconditions: List[str]  # 前置条件</a:t>
            </a:r>
          </a:p>
          <a:p>
            <a:r>
              <a:t>  • expected_effects: List[str]  # 预期效果</a:t>
            </a:r>
          </a:p>
          <a:p>
            <a:r>
              <a:t>  • parameters: Dict  # 参数</a:t>
            </a:r>
          </a:p>
          <a:p>
            <a:r>
              <a:t>  • status: NodeStatus (pending/executing/success/failed)</a:t>
            </a:r>
          </a:p>
          <a:p>
            <a:r>
              <a:t>  • children: List[PlanNode]  # 子节点</a:t>
            </a:r>
          </a:p>
          <a:p>
            <a:r>
              <a:t>}</a:t>
            </a:r>
          </a:p>
          <a:p/>
          <a:p>
            <a:r>
              <a:t>关键接口：</a:t>
            </a:r>
          </a:p>
          <a:p>
            <a:r>
              <a:t>get_plan(command) -&gt; PlanState</a:t>
            </a:r>
          </a:p>
          <a:p>
            <a:r>
              <a:t>plan_and_execute(command, robot_interface) -&gt;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8229600" cy="914400"/>
          </a:xfrm>
          <a:prstGeom prst="roundRect">
            <a:avLst/>
          </a:prstGeom>
          <a:solidFill>
            <a:srgbClr val="E6E6F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t>执行层 → 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ExecutionResult {</a:t>
            </a:r>
          </a:p>
          <a:p>
            <a:r>
              <a:t>  • success: bool</a:t>
            </a:r>
          </a:p>
          <a:p>
            <a:r>
              <a:t>  • action_id: str</a:t>
            </a:r>
          </a:p>
          <a:p>
            <a:r>
              <a:t>  • result: Dict  # 执行结果</a:t>
            </a:r>
          </a:p>
          <a:p>
            <a:r>
              <a:t>  • error: Optional[str]</a:t>
            </a:r>
          </a:p>
          <a:p>
            <a:r>
              <a:t>}</a:t>
            </a:r>
          </a:p>
          <a:p/>
          <a:p>
            <a:r>
              <a:t>关键接口：</a:t>
            </a:r>
          </a:p>
          <a:p>
            <a:r>
              <a:t>execute_plan(plan_state, robot_interface) -&gt; ExecutionResult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大模型（LLM/VLM）应用位置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840480" cy="2560320"/>
          </a:xfrm>
          <a:prstGeom prst="roundRect">
            <a:avLst/>
          </a:prstGeom>
          <a:solidFill>
            <a:srgbClr val="FFEBCD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660000"/>
                </a:solidFill>
              </a:defRPr>
            </a:pPr>
            <a:r>
              <a:t>1. VLM (视觉语言模型)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CC0000"/>
                </a:solidFill>
              </a:defRPr>
            </a:pPr>
            <a:r>
              <a:t>应用位置: 感知层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模型: LLaVA, MiniCPM-V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(Ollama本地部署): 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00"/>
                </a:solidFill>
              </a:defRPr>
            </a:pPr>
            <a:r>
              <a:t>功能1: 场景理解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摄像头图像RGB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场景描述 + 物体列表 + 空间关系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00"/>
                </a:solidFill>
              </a:defRPr>
            </a:pPr>
            <a:r>
              <a:t>功能2: 目标搜索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图像 + 目标描述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找到/未找到 + 位置 + 建议动作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00"/>
                </a:solidFill>
              </a:defRPr>
            </a:pPr>
            <a:r>
              <a:t>功能3: 空间问答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图像 + 问题(门在哪?)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方向 + 距离 + 描述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914400"/>
            <a:ext cx="3840480" cy="2560320"/>
          </a:xfrm>
          <a:prstGeom prst="roundRect">
            <a:avLst/>
          </a:prstGeom>
          <a:solidFill>
            <a:srgbClr val="CDEB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0066"/>
                </a:solidFill>
              </a:defRPr>
            </a:pPr>
            <a:r>
              <a:t>2. LLM (大语言模型)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00CC"/>
                </a:solidFill>
              </a:defRPr>
            </a:pPr>
            <a:r>
              <a:t>应用位置: 认知层 CoT引擎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模型: GPT-4, Claude, 本地Llama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(API调用或本地部署): 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66"/>
                </a:solidFill>
              </a:defRPr>
            </a:pPr>
            <a:r>
              <a:t>功能1: 链式思维推理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任务 + 环境上下文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推理链 + 决策 + 建议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66"/>
                </a:solidFill>
              </a:defRPr>
            </a:pPr>
            <a:r>
              <a:t>功能2: 任务分解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自然语言指令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HTN任务树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003366"/>
                </a:solidFill>
              </a:defRPr>
            </a:pPr>
            <a:r>
              <a:t>功能3: 异常处理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输入: 失败信息 + 上下文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/>
            </a:pPr>
            <a:r>
              <a:t>输出: 原因分析 + 恢复策略</a:t>
            </a:r>
          </a:p>
          <a:p>
            <a:pPr>
              <a:spcAft>
                <a:spcPts val="200"/>
              </a:spcAft>
            </a:pPr>
          </a:p>
          <a:p>
            <a:pPr>
              <a:spcBef>
                <a:spcPts val="200"/>
              </a:spcBef>
              <a:spcAft>
                <a:spcPts val="200"/>
              </a:spcAft>
              <a:defRPr b="1">
                <a:solidFill>
                  <a:srgbClr val="CC0000"/>
                </a:solidFill>
              </a:defRPr>
            </a:pPr>
            <a:r>
              <a:t>核心价值: 可解释性、可追溯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8229600" cy="256032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t>3. 完整数据流（大模型驱动）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000000"/>
                </a:solidFill>
              </a:defRPr>
            </a:pPr>
            <a:r>
              <a:t>步骤1: VLM场景理解</a:t>
            </a:r>
          </a:p>
          <a:p>
            <a:r>
              <a:t>  摄像头图像 → VLM(LLaVA) → 场景描述 + 物体列表</a:t>
            </a:r>
          </a:p>
          <a:p>
            <a:r>
              <a:t>  输出: "前方有建筑、门、道路，门位于建筑正面中央"</a:t>
            </a:r>
          </a:p>
          <a:p/>
          <a:p>
            <a:r>
              <a:t>步骤2: VLM目标搜索</a:t>
            </a:r>
          </a:p>
          <a:p>
            <a:r>
              <a:t>  用户指令:"去建筑门口" + 图像 → VLM → 目标位置</a:t>
            </a:r>
          </a:p>
          <a:p>
            <a:r>
              <a:t>  输出: "目标在图像中央，距离约20米，建议直行"</a:t>
            </a:r>
          </a:p>
          <a:p/>
          <a:p>
            <a:r>
              <a:t>步骤3: 感知数据融合</a:t>
            </a:r>
          </a:p>
          <a:p>
            <a:r>
              <a:t>  点云 + VLM结果 → 感知融合模块 → PerceptionData</a:t>
            </a:r>
          </a:p>
          <a:p>
            <a:r>
              <a:t>  输出: 完整的感知数据包(包含几何+语义)</a:t>
            </a:r>
          </a:p>
          <a:p/>
          <a:p>
            <a:r>
              <a:t>步骤4: LLM推理决策</a:t>
            </a:r>
          </a:p>
          <a:p>
            <a:r>
              <a:t>  PerceptionData + 任务 → CoT引擎(LLM) → ReasoningResult</a:t>
            </a:r>
          </a:p>
          <a:p>
            <a:r>
              <a:t>  输出: "步骤1:环境分析...步骤2:路径规划...决策:执行任务"</a:t>
            </a:r>
          </a:p>
          <a:p/>
          <a:p>
            <a:r>
              <a:t>步骤5: HTN任务分解</a:t>
            </a:r>
          </a:p>
          <a:p>
            <a:r>
              <a:t>  ReasoningResult + PlanningContext → TaskLevelPlanner → PlanState</a:t>
            </a:r>
          </a:p>
          <a:p>
            <a:r>
              <a:t>  输出: HTN任务树 [goto(门口) → detect_door → open_door → enter]</a:t>
            </a:r>
          </a:p>
          <a:p/>
          <a:p>
            <a:r>
              <a:t>步骤6: 执行与反馈</a:t>
            </a:r>
          </a:p>
          <a:p>
            <a:r>
              <a:t>  PlanState → Executor → 平台执行 → ObservationResult</a:t>
            </a:r>
          </a:p>
          <a:p>
            <a:r>
              <a:t>  输出: 成功/失败 → 更新WorldModel → 循环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具体实现方案：如何做？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560320" cy="5669280"/>
          </a:xfrm>
          <a:prstGeom prst="roundRect">
            <a:avLst/>
          </a:prstGeom>
          <a:solidFill>
            <a:srgbClr val="FFEBCD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阶段1: VLM感知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b="1">
                <a:solidFill>
                  <a:srgbClr val="660000"/>
                </a:solidFill>
              </a:defRPr>
            </a:pPr>
            <a:r>
              <a:t>部署 Ollama + LLaVA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docker run -d -v ollama:/root/.ollama -p 11434:11434 ollama/ollama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ollama pull llava:7b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场景理解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vlm.describe_scene(image_rgb) -&gt; SceneDescription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返回: {summary, objects[], spatial_relations[], hints[]}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目标搜索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vlm.find_target(image, "红色杯子") -&gt; TargetSearchResult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返回: {found, position, confidence, action}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914400"/>
            <a:ext cx="2560320" cy="5669280"/>
          </a:xfrm>
          <a:prstGeom prst="roundRect">
            <a:avLst/>
          </a:prstGeom>
          <a:solidFill>
            <a:srgbClr val="CDEB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005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阶段2: LLM推理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b="1">
                <a:solidFill>
                  <a:srgbClr val="660000"/>
                </a:solidFill>
              </a:defRPr>
            </a:pPr>
            <a:r>
              <a:t>配置 LLM 接口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- 本地: Ollama + Llama3.1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- 云端: OpenAI GPT-4 API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CoT推理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cot.reason("去厨房拿杯子", context, PLANNING)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返回: ReasoningResult{chain[], decision, suggestion}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任务分解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task_planner.parse_command("去厨房拿杯水")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返回: TaskInfo{skills:["navigate", "search", "grasp"]}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914400"/>
            <a:ext cx="2560320" cy="5669280"/>
          </a:xfrm>
          <a:prstGeom prst="roundRect">
            <a:avLst/>
          </a:prstGeom>
          <a:solidFill>
            <a:srgbClr val="CDFFCD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005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阶段3: HTN规划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2377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100"/>
              </a:spcAft>
              <a:defRPr b="1">
                <a:solidFill>
                  <a:srgbClr val="660000"/>
                </a:solidFill>
              </a:defRPr>
            </a:pPr>
            <a:r>
              <a:t>三层规划器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TaskLevel: 自然语言 → 技能序列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SkillLevel: 技能 → 动作序列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ActionLevel: 动作 → 参数化操作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动态规划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dynamic_planner.check_and_insert_preconditions(node)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检测到门关闭 → 自动插入 open_door 动作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失败恢复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replanning_rules.should_replan(failed_node, counts)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/>
            </a:pPr>
            <a:r>
              <a:t>  超过3次插入 → 触发重规划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